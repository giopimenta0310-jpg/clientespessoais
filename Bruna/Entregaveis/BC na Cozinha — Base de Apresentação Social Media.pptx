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992311f4c444d2" /><Relationship Type="http://schemas.openxmlformats.org/officeDocument/2006/relationships/extended-properties" Target="/docProps/app.xml" Id="Rc0d86d36cdb94274" /><Relationship Type="http://schemas.openxmlformats.org/officeDocument/2006/relationships/officeDocument" Target="/ppt/presentation.xml" Id="Ra3ace73bde3f42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d8b230054e472a"/>
  </p:sldMasterIdLst>
  <p:notesMasterIdLst>
    <p:notesMasterId xmlns:r="http://schemas.openxmlformats.org/officeDocument/2006/relationships" r:id="Radf6266aac79438c"/>
  </p:notesMasterIdLst>
  <p:sldIdLst>
    <p:sldId xmlns:r="http://schemas.openxmlformats.org/officeDocument/2006/relationships" id="256" r:id="R6aaebcd4e80a49ef"/>
    <p:sldId xmlns:r="http://schemas.openxmlformats.org/officeDocument/2006/relationships" id="257" r:id="R09cfd0762ec74291"/>
    <p:sldId xmlns:r="http://schemas.openxmlformats.org/officeDocument/2006/relationships" id="258" r:id="R67bf30fed23d4106"/>
    <p:sldId xmlns:r="http://schemas.openxmlformats.org/officeDocument/2006/relationships" id="259" r:id="R73399602ad0b41b9"/>
    <p:sldId xmlns:r="http://schemas.openxmlformats.org/officeDocument/2006/relationships" id="260" r:id="Rde80445e7a024aa3"/>
    <p:sldId xmlns:r="http://schemas.openxmlformats.org/officeDocument/2006/relationships" id="261" r:id="R8fb283f502464488"/>
    <p:sldId xmlns:r="http://schemas.openxmlformats.org/officeDocument/2006/relationships" id="262" r:id="R67ce10fc16f245c5"/>
    <p:sldId xmlns:r="http://schemas.openxmlformats.org/officeDocument/2006/relationships" id="263" r:id="Rdac7a02cb2d44a15"/>
    <p:sldId xmlns:r="http://schemas.openxmlformats.org/officeDocument/2006/relationships" id="264" r:id="Rf07db9f9578b4390"/>
    <p:sldId xmlns:r="http://schemas.openxmlformats.org/officeDocument/2006/relationships" id="265" r:id="Rc2bdbb6870fd4f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692426ec948ab" /><Relationship Type="http://schemas.openxmlformats.org/officeDocument/2006/relationships/slideMaster" Target="/ppt/slideMasters/slideMaster1.xml" Id="R13d8b230054e472a" /><Relationship Type="http://schemas.openxmlformats.org/officeDocument/2006/relationships/notesMaster" Target="/ppt/notesMasters/notesMaster1.xml" Id="Radf6266aac79438c" /><Relationship Type="http://schemas.openxmlformats.org/officeDocument/2006/relationships/presProps" Target="/ppt/presProps.xml" Id="R6bd7647f3f164d71" /><Relationship Type="http://schemas.openxmlformats.org/officeDocument/2006/relationships/tableStyles" Target="/ppt/tableStyles.xml" Id="Ree58ea04b8cd4348" /><Relationship Type="http://schemas.openxmlformats.org/officeDocument/2006/relationships/slide" Target="/ppt/slides/slide1.xml" Id="R6aaebcd4e80a49ef" /><Relationship Type="http://schemas.openxmlformats.org/officeDocument/2006/relationships/slide" Target="/ppt/slides/slide2.xml" Id="R09cfd0762ec74291" /><Relationship Type="http://schemas.openxmlformats.org/officeDocument/2006/relationships/slide" Target="/ppt/slides/slide3.xml" Id="R67bf30fed23d4106" /><Relationship Type="http://schemas.openxmlformats.org/officeDocument/2006/relationships/slide" Target="/ppt/slides/slide4.xml" Id="R73399602ad0b41b9" /><Relationship Type="http://schemas.openxmlformats.org/officeDocument/2006/relationships/slide" Target="/ppt/slides/slide5.xml" Id="Rde80445e7a024aa3" /><Relationship Type="http://schemas.openxmlformats.org/officeDocument/2006/relationships/slide" Target="/ppt/slides/slide6.xml" Id="R8fb283f502464488" /><Relationship Type="http://schemas.openxmlformats.org/officeDocument/2006/relationships/slide" Target="/ppt/slides/slide7.xml" Id="R67ce10fc16f245c5" /><Relationship Type="http://schemas.openxmlformats.org/officeDocument/2006/relationships/slide" Target="/ppt/slides/slide8.xml" Id="Rdac7a02cb2d44a15" /><Relationship Type="http://schemas.openxmlformats.org/officeDocument/2006/relationships/slide" Target="/ppt/slides/slide9.xml" Id="Rf07db9f9578b4390" /><Relationship Type="http://schemas.openxmlformats.org/officeDocument/2006/relationships/slide" Target="/ppt/slides/slide10.xml" Id="Rc2bdbb6870fd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be445c20f7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ae1dbb308c412e" /><Relationship Type="http://schemas.openxmlformats.org/officeDocument/2006/relationships/notesMaster" Target="/ppt/notesMasters/notesMaster1.xml" Id="R1c063a2b2cda4b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e8952a9594f69" /><Relationship Type="http://schemas.openxmlformats.org/officeDocument/2006/relationships/notesMaster" Target="/ppt/notesMasters/notesMaster1.xml" Id="R8cbce87200eb4b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de2315d6c84e97" /><Relationship Type="http://schemas.openxmlformats.org/officeDocument/2006/relationships/notesMaster" Target="/ppt/notesMasters/notesMaster1.xml" Id="Rc543f7faa3ca46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c83edefd514a56" /><Relationship Type="http://schemas.openxmlformats.org/officeDocument/2006/relationships/notesMaster" Target="/ppt/notesMasters/notesMaster1.xml" Id="Rd7e340123b7d45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7efb1327164a15" /><Relationship Type="http://schemas.openxmlformats.org/officeDocument/2006/relationships/notesMaster" Target="/ppt/notesMasters/notesMaster1.xml" Id="R958497848d91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ef72e691564b6f" /><Relationship Type="http://schemas.openxmlformats.org/officeDocument/2006/relationships/notesMaster" Target="/ppt/notesMasters/notesMaster1.xml" Id="R635864cea1f24b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cb7dbdf61641ce" /><Relationship Type="http://schemas.openxmlformats.org/officeDocument/2006/relationships/notesMaster" Target="/ppt/notesMasters/notesMaster1.xml" Id="Rfac21488829e4d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1b44857974bbb" /><Relationship Type="http://schemas.openxmlformats.org/officeDocument/2006/relationships/notesMaster" Target="/ppt/notesMasters/notesMaster1.xml" Id="R8a845ea589514e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e599074d674fd7" /><Relationship Type="http://schemas.openxmlformats.org/officeDocument/2006/relationships/notesMaster" Target="/ppt/notesMasters/notesMaster1.xml" Id="R0f98c7ef6772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e35eb15bf0476c" /><Relationship Type="http://schemas.openxmlformats.org/officeDocument/2006/relationships/notesMaster" Target="/ppt/notesMasters/notesMaster1.xml" Id="R8f547eae91c2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921c28cd940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01de18c8941b5" /><Relationship Type="http://schemas.openxmlformats.org/officeDocument/2006/relationships/slideLayout" Target="/ppt/slideLayouts/slideLayout1.xml" Id="R19b093f298b8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093f298b8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6017bced040ee" /><Relationship Type="http://schemas.openxmlformats.org/officeDocument/2006/relationships/notesSlide" Target="/ppt/notesSlides/notesSlide1.xml" Id="R32d5e7f7ee29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ed013acdb4e7e" /><Relationship Type="http://schemas.openxmlformats.org/officeDocument/2006/relationships/notesSlide" Target="/ppt/notesSlides/notesSlide2.xml" Id="R9986cb1dc56f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38384617a4b1c" /><Relationship Type="http://schemas.openxmlformats.org/officeDocument/2006/relationships/notesSlide" Target="/ppt/notesSlides/notesSlide3.xml" Id="R244748c4b07b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a10f7b5fc4d73" /><Relationship Type="http://schemas.openxmlformats.org/officeDocument/2006/relationships/notesSlide" Target="/ppt/notesSlides/notesSlide4.xml" Id="Ra83bec34470047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3a4a677084a8d" /><Relationship Type="http://schemas.openxmlformats.org/officeDocument/2006/relationships/notesSlide" Target="/ppt/notesSlides/notesSlide5.xml" Id="R82d674f4a6214d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3fd7254834f92" /><Relationship Type="http://schemas.openxmlformats.org/officeDocument/2006/relationships/notesSlide" Target="/ppt/notesSlides/notesSlide6.xml" Id="Rdcc05a57971342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63d4aded643d0" /><Relationship Type="http://schemas.openxmlformats.org/officeDocument/2006/relationships/notesSlide" Target="/ppt/notesSlides/notesSlide7.xml" Id="R5986b549cc2445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2b0a003a0406e" /><Relationship Type="http://schemas.openxmlformats.org/officeDocument/2006/relationships/notesSlide" Target="/ppt/notesSlides/notesSlide8.xml" Id="Rbd5f649be67445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e69ad8104ebc" /><Relationship Type="http://schemas.openxmlformats.org/officeDocument/2006/relationships/notesSlide" Target="/ppt/notesSlides/notesSlide9.xml" Id="Ra40bd373f09748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8f20f2824be7" /><Relationship Type="http://schemas.openxmlformats.org/officeDocument/2006/relationships/notesSlide" Target="/ppt/notesSlides/notesSlide10.xml" Id="Rf170690c27444b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2AA0C-E16F-4C1D-83EB-8A797C9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D62B5-45FF-46FD-8E2A-AF30523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1EFC1-CDF1-428C-A01C-8CF81748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41E36-A125-48AD-8EE4-054C99C7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Estratégia de</a:t>
            </a:r>
          </a:p>
          <a:p xmlns:a="http://schemas.openxmlformats.org/drawingml/2006/main">
            <a:pPr>
              <a:defRPr sz="52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social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0A979-C91C-4B95-A761-8E8ACFC4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909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com presença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87C2F-4E77-4EF4-BB17-7FD2A482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A9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A90"/>
                </a:solidFill>
                <a:latin typeface="Helvetica Neue"/>
                <a:ea typeface="Helvetica Neue"/>
                <a:cs typeface="Helvetica Neue"/>
              </a:rPr>
              <a:t>Base de apresentação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84D0B-FBF9-4A69-9D3A-F73EB321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Diagnóstico, direção e plano de conteúdo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CBC80-27BF-4978-90E6-5BCB27E9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8112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63"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F25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0" b="1">
                <a:solidFill>
                  <a:srgbClr val="F25D6A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B8385-928D-4D30-99FD-AAACB0E7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VERSÃO DE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727E0-39A5-42DA-B371-87AD3DC2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96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Setembro 2026</a:t>
            </a:r>
          </a:p>
        </p:txBody>
      </p:sp>
    </p:spTree>
    <p:extLst>
      <p:ext uri="{BB962C8B-B14F-4D97-AF65-F5344CB8AC3E}">
        <p14:creationId xmlns:p14="http://schemas.microsoft.com/office/powerpoint/2010/main" val="249585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F4753-15BD-4C94-9891-4E13D327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0D060-197C-44BF-AC5F-51F3C1B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BE7F8-7AAA-46DB-9E72-D859CF52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D4B27-4830-4C2D-BE6C-FA1A8ACE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39D02-E938-4AA2-9AAC-B9B68EB5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ESTRUTURA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6CC5B-47A8-4CF3-A10F-F77357D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Roteiro da apresentação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5AE8E-52BA-4D84-9134-B962DC20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Uma leitura focada no Instagram e nas decisões que orientam a comunicação.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0C806-E65E-434E-8DEF-8F445A0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F88C2-26FA-4F04-9F6F-A3E14BD7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Ponto de partida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B7BC3-3984-45B1-9DD4-C5E6DABE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00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Marca, operação e perfil atual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1019B-5B00-4BBF-B159-A27E8F29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76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D1"/>
          </a:solidFill>
          <a:ln xmlns:a="http://schemas.openxmlformats.org/drawingml/2006/main" w="0">
            <a:solidFill>
              <a:srgbClr val="D9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42D88-AD43-45AF-982A-DCFA8C2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99139-FCAA-4BD7-8AC0-264AEBD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Público e cenário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9F105-4FAC-4689-AAF8-F9C9348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33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Audiência, concorrentes e referências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95B2C-DC61-4835-91C1-F32B2C8F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776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D1"/>
          </a:solidFill>
          <a:ln xmlns:a="http://schemas.openxmlformats.org/drawingml/2006/main" w="0">
            <a:solidFill>
              <a:srgbClr val="D9D5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407DB-6319-4D80-8FE3-5300EF8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4B427-4322-40A6-8B43-DC31C4FA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Estratégia de social 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39130-DB11-4C46-9F0A-84AD6F2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Posicionamento, conteúdo e conversão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21946-4929-4A93-B338-43AD1361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76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D1"/>
          </a:solidFill>
          <a:ln xmlns:a="http://schemas.openxmlformats.org/drawingml/2006/main" w="0">
            <a:solidFill>
              <a:srgbClr val="D9D5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CD547-08AE-457A-927B-E0B6C33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DBB85-D332-4E8F-973D-85D44CD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Plano de 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501D7-8E7F-4348-9E09-7EEAE0CD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0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Perfil, peças iniciais e calendário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F6B94-FF91-4652-A3EE-767EA25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76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D1"/>
          </a:solidFill>
          <a:ln xmlns:a="http://schemas.openxmlformats.org/drawingml/2006/main" w="0">
            <a:solidFill>
              <a:srgbClr val="D9D5D1"/>
            </a:solidFill>
          </a:ln>
        </p:spPr>
      </p:sp>
    </p:spTree>
    <p:extLst>
      <p:ext uri="{BB962C8B-B14F-4D97-AF65-F5344CB8AC3E}">
        <p14:creationId xmlns:p14="http://schemas.microsoft.com/office/powerpoint/2010/main" val="1304545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D8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BA651-5EEE-4239-864E-6BBB72B8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D57DA-09F3-4091-AC5E-F88C13A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0D4D-A530-476C-AB1C-8576D6C5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2EA4E-10F1-40E5-ADE5-026D1F29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B8E94-A5D9-436B-A504-FD5EF0A0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PONTO DE 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AE278-334E-442F-A601-A808BB6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A marca e a presença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7B823-DB00-4919-B95C-137E5E34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O que já existe, o que o perfil comunica e onde a presença digital pode ganhar clareza.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EB3E0-2A9C-4CF4-BCEF-5547B8AA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Contexto de marca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A9F7F-60EC-45EE-99D3-93C1F2A2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24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Operação e compra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7432E-DCC4-4CC3-BBFA-2AD6CA2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Perfil e comunicação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7C2E6-EE37-4E28-9615-A54473E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FA241-E0EA-4B33-948E-CF9229A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Tópicos a desenvolver na apresentação final</a:t>
            </a:r>
          </a:p>
        </p:txBody>
      </p:sp>
    </p:spTree>
    <p:extLst>
      <p:ext uri="{BB962C8B-B14F-4D97-AF65-F5344CB8AC3E}">
        <p14:creationId xmlns:p14="http://schemas.microsoft.com/office/powerpoint/2010/main" val="2143805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1AF5C-76C8-4F80-BE68-DBCC3EC4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4B06A-E867-4BE1-B87E-065B884F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2F33B-778E-4B2C-9C0A-FCFEA16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72AC0-294C-4A2F-96D2-7F3F0064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23433-0410-424A-8894-A8A128EE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A533F-F936-4456-9263-B71676AA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Público, concorrentes e referências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8D67-F142-4A5A-B012-B908C68A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A leitura externa organiza oportunidades de conteúdo e diferenciação dentro do Instagram.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C47AE-B398-4822-8E0F-8DCE2E2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PÚBLICO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74D5D-6DB7-472B-8E02-664814C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7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Quem acompanha</a:t>
            </a:r>
          </a:p>
          <a:p xmlns:a="http://schemas.openxmlformats.org/drawingml/2006/main">
            <a:pPr>
              <a:def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 quem pode comprar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5AAB8-0BD4-44B8-A03E-D8C5440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D4B"/>
          </a:solidFill>
          <a:ln xmlns:a="http://schemas.openxmlformats.org/drawingml/2006/main" w="0">
            <a:solidFill>
              <a:srgbClr val="741D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CD5B-A333-4BC5-AE17-C40FFCD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24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CONCORRENTES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722AC-440E-4A01-9A9C-D23A6522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81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7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Perfis locais</a:t>
            </a:r>
          </a:p>
          <a:p xmlns:a="http://schemas.openxmlformats.org/drawingml/2006/main">
            <a:pPr>
              <a:def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 categorias próximas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7786-CE6E-4729-BD77-A0AD5721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721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818C9-EEE2-4615-8E38-9946A9CA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REFERÊNCIAS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0AFDB-4143-46FE-AD15-543CE22F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7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Marcas para estudar</a:t>
            </a:r>
          </a:p>
          <a:p xmlns:a="http://schemas.openxmlformats.org/drawingml/2006/main">
            <a:pPr>
              <a:def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posicionamento e visual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3C088-6F7D-46D3-8F6F-4ADC3ABC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721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1D4B"/>
          </a:solidFill>
          <a:ln xmlns:a="http://schemas.openxmlformats.org/drawingml/2006/main" w="0">
            <a:solidFill>
              <a:srgbClr val="741D4B"/>
            </a:solidFill>
          </a:ln>
        </p:spPr>
      </p:sp>
    </p:spTree>
    <p:extLst>
      <p:ext uri="{BB962C8B-B14F-4D97-AF65-F5344CB8AC3E}">
        <p14:creationId xmlns:p14="http://schemas.microsoft.com/office/powerpoint/2010/main" val="1792881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741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A1CDF-C2D5-4E4D-8057-D7541D52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1040D-2066-4893-B9E4-14941AB0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ADAEF-E046-4F41-9E87-565D6CB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B2F2B-035E-401C-86B7-C1358EDC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340E8-8716-4428-A24E-44966436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AUDITORIA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88E57-7E19-457E-AFB2-A0409E7E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Perfil, visual e Stories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1BECD-DB8B-46F2-BE4F-C91ABBC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Como o perfil recebe uma pessoa nova e transforma atenção em entendimento e interesse.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AD724-9A78-438D-A40B-8AB5B6E9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Bio e nome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D89E0-3CA3-48D5-A9AE-5E1101E2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25677-87D4-4D80-A65E-681FFE42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Foto de perfil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6CBDC-F0DA-4838-9F6A-A020351A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447A8-4B4F-44C2-AAFF-F0A83ACD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Destaques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9CB59-6C2E-4BB4-AB55-C0C190A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958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1AF21-83F9-4F43-A097-29ED63CA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52DA9-7552-4A37-ACDD-EA1CB76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721C4-A95D-4FBC-A3AE-F6155BD3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Stories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A3FE7-0556-4A7B-A4F2-6A37164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97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8AB2C-AE3B-4412-9989-4808CC2A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Caminho de compra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5C921-C9CC-40AA-95F5-ABE0F1EC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197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</p:spTree>
    <p:extLst>
      <p:ext uri="{BB962C8B-B14F-4D97-AF65-F5344CB8AC3E}">
        <p14:creationId xmlns:p14="http://schemas.microsoft.com/office/powerpoint/2010/main" val="1144619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C8DA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8C220-DEEF-4B1C-A435-71E355F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14F6D-22FC-4DF7-8639-745A0D2A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D89C7-3AA7-492C-84A5-201B69A1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4847E-DF07-4CD3-B932-31D7DA60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19734-007E-45ED-A4F6-F7EC20D6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DIREÇÃO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EFFF0-658C-4C73-84A4-442A9F7A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Estratégia de social media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192F2-2373-4B2F-8F64-2721ACB6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A mensagem central, a percepção desejada e o papel do Instagram na construção de demanda.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33EF6-E241-4D81-B161-C2AB030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035FA-CBB0-49DA-A39E-FDBC2F0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Descobrir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96033-8F2A-48C6-B6F4-2ABAD82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196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E67B2-7BD2-4CBB-BB40-B1EA1F82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95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F8FAE-6290-4859-9598-31BBF4F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577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Entender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82135-081B-48D5-81D3-059C389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40C3C-EC07-4B75-8589-87E3248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95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2BB4F-20E0-4703-85B7-EEF71E94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Desejar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A091D-120E-4A6B-A95C-AE3E6682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196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F1BC9-3D12-409B-B0FC-612E4E0B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95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D5F93-ACED-4276-A15D-51AFE9E6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Confiar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5A52B-6F9F-46D5-BE7E-8A6CAD3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96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4D5F8-C999-4975-B365-EC130D23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3C814-A1E9-4ABA-9A37-8907431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Comprar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65E35-B12A-4231-A311-B114E809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96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E9CA5-B5F1-4536-ACB5-B4A5D1FF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95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E89C6-8530-4360-83CC-A81E2CA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577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Repetir</a:t>
            </a:r>
          </a:p>
        </p:txBody>
      </p:sp>
    </p:spTree>
    <p:extLst>
      <p:ext uri="{BB962C8B-B14F-4D97-AF65-F5344CB8AC3E}">
        <p14:creationId xmlns:p14="http://schemas.microsoft.com/office/powerpoint/2010/main" val="1070800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ABDB6-70FD-4532-9125-85E57958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75FBE-FBB6-4F8E-87E4-0C3D7F73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AB106-4772-4F52-9547-2C3156EF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7958B-D133-4C65-9979-4EDD80E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A2A54-08CA-43D1-B1C5-868F5614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CONTEÚDO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AD813-A105-49D7-9618-CBFD8D7B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Sistema editorial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9FA87-F529-4907-B665-055F8B3C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Os pilares que orientam temas, formatos, CTAs e frequência de publicação.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AC25F-BBA2-45BD-8EF2-ACD26E07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0B747-606C-4E09-B117-820C096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Produto e</a:t>
            </a:r>
          </a:p>
          <a:p xmlns:a="http://schemas.openxmlformats.org/drawingml/2006/main">
            <a:pPr>
              <a:def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experiência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FD12E-00A9-44C2-A1BC-5CA610F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05C68-1B2A-42E5-BE7A-2B647CF1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19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239A4-D5E1-4BBB-B23B-DA19B8A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57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Bruna, autoria</a:t>
            </a:r>
          </a:p>
          <a:p xmlns:a="http://schemas.openxmlformats.org/drawingml/2006/main">
            <a:pPr>
              <a:def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 processo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060B0-217F-491D-920F-B3650D8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62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775D5-80C1-4F36-8A39-85292C3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FCDBD-45D6-40F7-84E1-F8A303B4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Confiança</a:t>
            </a:r>
          </a:p>
          <a:p xmlns:a="http://schemas.openxmlformats.org/drawingml/2006/main">
            <a:pPr>
              <a:def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 compra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38C26-8455-4A20-9540-6ECAE46D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62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</p:spTree>
    <p:extLst>
      <p:ext uri="{BB962C8B-B14F-4D97-AF65-F5344CB8AC3E}">
        <p14:creationId xmlns:p14="http://schemas.microsoft.com/office/powerpoint/2010/main" val="312443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D8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E7549-CCA5-4274-86E3-8EE127F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8228-FA9B-4075-AFDD-F611C754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406D6-8A3C-46BC-AF70-EFCFE06D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3A88D-7D36-48BE-83ED-C2C6157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C8117-2720-4476-B466-F39DA84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DIREÇÃO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5C89B-18AB-4B03-AE53-2568827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Um Instagram com assinatura própria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D01ED-84E2-4D8C-B8ED-C79EA591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A base visual une a organização editorial da gio. ao calor, à proximidade e à comida da BC.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0852E-B04C-45E6-BAA2-5DFB11A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E733E-FAE9-48B1-A035-724ECA93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Editorial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00D7D-0BF6-4F96-B5F8-1DC2DA80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5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5D6A"/>
                </a:solidFill>
                <a:latin typeface="Helvetica Neue"/>
                <a:ea typeface="Helvetica Neue"/>
                <a:cs typeface="Helvetica Neue"/>
              </a:rPr>
              <a:t>Artesanal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33982-C9BE-4472-A3DE-B3B743E9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94213-2F1B-406F-8C87-871E4612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Tipografia, paleta, fotografia, tratamento de imagem e templates de conteúdo</a:t>
            </a:r>
          </a:p>
        </p:txBody>
      </p:sp>
    </p:spTree>
    <p:extLst>
      <p:ext uri="{BB962C8B-B14F-4D97-AF65-F5344CB8AC3E}">
        <p14:creationId xmlns:p14="http://schemas.microsoft.com/office/powerpoint/2010/main" val="687642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8DA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B572B-B5E0-43D7-B27C-97AC936A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F6723-EA2D-44BA-8539-C096F5F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0E730-A86D-45E7-A0A5-4F5E771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C"/>
          </a:solidFill>
          <a:ln xmlns:a="http://schemas.openxmlformats.org/drawingml/2006/main" w="0">
            <a:solidFill>
              <a:srgbClr val="24171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61FEF-A7EA-4D9E-B46B-8B42E1DF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04C14-0AE6-4191-A88A-A1CBD34B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PLANO DE 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C95A3-E0D2-4FAC-B8FA-2881F813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Estrutura para os primeiros 30 dias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3468E-B9AD-4D88-9F9B-7B4134E4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41D4B"/>
                </a:solidFill>
                <a:latin typeface="Helvetica Neue"/>
                <a:ea typeface="Helvetica Neue"/>
                <a:cs typeface="Helvetica Neue"/>
              </a:rPr>
              <a:t>A estratégia será traduzida em ajustes de perfil, conteúdo inicial e uma rotina viável de publicação.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0BF86-1275-4D03-BA0B-2B56077E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1BC34-3C6D-45FE-8023-69356D83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Perfil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9F250-C787-4A73-9578-910B11B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51C18-97D7-464A-B3B6-7383916F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B804C-C205-4C50-8BFE-A5F56C2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05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Direção 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90D0F-B2D8-4BDD-844A-B77466B5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721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CFA40-DDD7-40D1-BF8B-BE95FB8E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0D442-D417-4535-AF89-129970FD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05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Peças iniciais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4A6EE-3A41-406D-9BC9-4A8C9A8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721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435EF-6256-4F8B-BE5D-FA2A24B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75A02-1D36-455E-9D06-214CB4F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05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Reels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43A43-5C5D-4B82-B697-CC402F0E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721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691BC-10E8-4837-B7AA-EA2E754D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73570-CD33-4BA3-8E53-BD953DE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171C"/>
                </a:solidFill>
                <a:latin typeface="Helvetica Neue"/>
                <a:ea typeface="Helvetica Neue"/>
                <a:cs typeface="Helvetica Neue"/>
              </a:rPr>
              <a:t>Calendário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55D3D-3297-4F42-A05D-CDEEB3B1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D6A"/>
          </a:solidFill>
          <a:ln xmlns:a="http://schemas.openxmlformats.org/drawingml/2006/main" w="0">
            <a:solidFill>
              <a:srgbClr val="F25D6A"/>
            </a:solidFill>
          </a:ln>
        </p:spPr>
      </p:sp>
    </p:spTree>
    <p:extLst>
      <p:ext uri="{BB962C8B-B14F-4D97-AF65-F5344CB8AC3E}">
        <p14:creationId xmlns:p14="http://schemas.microsoft.com/office/powerpoint/2010/main" val="90742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8E3E6-812E-4910-A8E5-65FA679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0C5FC-9EC1-4EBB-8752-D437490F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BC na Cozinha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F700-3E94-4994-AE95-474F660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B"/>
          </a:solidFill>
          <a:ln xmlns:a="http://schemas.openxmlformats.org/drawingml/2006/main" w="0">
            <a:solidFill>
              <a:srgbClr val="F4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6A3E5-5CC4-4718-80C9-DCEB8E1F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E9EE4-6301-4602-B0E3-5DAE818F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PRÓXIMA ETAPA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DBF09-5C6E-4324-B619-7A16686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73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Preencher a estratégia</a:t>
            </a:r>
          </a:p>
          <a:p xmlns:a="http://schemas.openxmlformats.org/drawingml/2006/main">
            <a:pPr>
              <a:defRPr sz="4125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com as decisões da BC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2D99B-175A-4AA0-9F54-8B4A600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575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e fazer o perfil acontecer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FF50A-D54F-441E-B54D-D8FF84F9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D8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4D8CB"/>
                </a:solidFill>
                <a:latin typeface="Helvetica Neue"/>
                <a:ea typeface="Helvetica Neue"/>
                <a:cs typeface="Helvetica Neue"/>
              </a:rPr>
              <a:t>Aprovamos primeiro a direção visual desta base. Em seguida, integramos o diagnóstico e os materiais finais.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8A48A-D430-4D0D-A619-1C1E5860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A7"/>
          </a:solidFill>
          <a:ln xmlns:a="http://schemas.openxmlformats.org/drawingml/2006/main" w="0">
            <a:solidFill>
              <a:srgbClr val="E46BA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8B2D1-87E9-4037-A79A-8FB0949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46BA7"/>
                </a:solidFill>
                <a:latin typeface="Helvetica Neue"/>
                <a:ea typeface="Helvetica Neue"/>
                <a:cs typeface="Helvetica Neue"/>
              </a:rPr>
              <a:t>gio.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42A42-3B63-4FB1-A168-927B144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829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F0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7F0E9"/>
                </a:solidFill>
                <a:latin typeface="Helvetica Neue"/>
                <a:ea typeface="Helvetica Neue"/>
                <a:cs typeface="Helvetica Neue"/>
              </a:rPr>
              <a:t>Estratégia de social media</a:t>
            </a:r>
          </a:p>
        </p:txBody>
      </p:sp>
    </p:spTree>
    <p:extLst>
      <p:ext uri="{BB962C8B-B14F-4D97-AF65-F5344CB8AC3E}">
        <p14:creationId xmlns:p14="http://schemas.microsoft.com/office/powerpoint/2010/main" val="599329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2026-09-06T21:08:03.8010000Z</dcterms:created>
  <dcterms:modified xsi:type="dcterms:W3CDTF">2026-09-06T21:08:03.8010000Z</dcterms:modified>
</coreProperties>
</file>